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开场：我们研究的是怎样把已有压缩方法转化为实际部署策略。给定模型、硬件、负载和质量要求，选择各模块、各阶段的压缩方法。当前工作来自采用 AAAI 2027 模板的 DASO 论文；此处不宣称录用状态。</a:t>
            </a:r>
          </a:p>
          <a:p>
            <a:r>
              <a:t>论文正式标题：From Compression Methods to Deployment Decisions: Quality-Constrained Fine-Grained Strategy Optimization for Efficient LLM Inference。</a:t>
            </a:r>
          </a:p>
          <a:p>
            <a:r>
              <a:t>来源：artifacts/paper/wu.tex。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先看动机。Dense NVFP4 的 prefill 加速为 1.71×，decode 为 0.55×；W4A16 Marlin 分别为 1.02×、1.50×。它们说明必须基于实际执行测量判断收益。图中阶段来自论文两种 workload，不能把柱状图数值直接相加当作端到端加速。模块敏感度差异的证据见论文 Quality Modeling。</a:t>
            </a:r>
          </a:p>
          <a:p>
            <a:r>
              <a:t>来源：daso/results/paper/tables/main_table_final.tex。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这一页回答候选方法的代价如何估计。时延模型使用方法感知的 Roofline 先验，区分计算、访存、量化处理与固定开销，再通过实测形状的全局与局部残差校准。质量模型从缓存激活计算局部输出扰动，并以少量完整策略的 teacher-forced NLL 标签拟合方法、层深、模块类型与推理阶段的共享敏感度。局部误差本身不足以预测整体质量，原图展示层深与模块类型造成的敏感度差异。优化使用相对 BF16 的 ΔNLL，最终仍以真实下游任务指标检验。</a:t>
            </a:r>
          </a:p>
          <a:p>
            <a:r>
              <a:t>来源：artifacts/paper/wu.tex，Method；daso/results/paper/figures/quality_modeling_insight.png。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这一页回答代价如何变成可执行策略。每个模块的动作是一对 prefill / decode 方法。时延按 prefill 一次及 decode 的 T-1 次执行汇总，质量成本相加并保留回归截距。给定质量预算后，问题转化为多选背包，用动态规划求解；扫描预算得到多个折中策略。运行时扩展 vLLM 的阶段感知后端分派，各层完成 prefill 后，在独立 copy stream 准备其 decode 权重表示，并与后续层的 prefill 计算重叠。示意图只表达依赖和重叠关系，不表达实际时间比例。</a:t>
            </a:r>
          </a:p>
          <a:p>
            <a:r>
              <a:t>来源：artifacts/paper/wu.tex，Strategy Optimization and Deployment。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本页直接嵌入论文最终的双面板原图，不重新绘制。左图是 Llama-3.1-8B-Instruct 的 prefill-only ARC-Challenge acc_norm，右图是 prefill-decode IWSLT SacreBLEU；黑点是实测前沿，红方块是 uniform baselines，蓝菱形为 Balanced，金色星形为 Max speed。图内结果均来自 Llama-3.1。旁边数值摘要来自最终主表的两模型结果：2.26× prefill 来自 Llama-3.1，1.55× E2E 来自 Llama-2；两者是宽松质量预算下的端点，不表示无损。Balanced 的 1.14–1.26× E2E 分别来自 Llama-2 与 Llama-3.1。原图与主表都是 RTX 5090，正文还提供 RTX PRO 6000 的跨平台验证。</a:t>
            </a:r>
          </a:p>
          <a:p>
            <a:r>
              <a:t>原图：daso/results/paper/figures/llama31_two_scenario_tradeoff_horizontal.png，按文件原样嵌入。</a:t>
            </a:r>
          </a:p>
          <a:p>
            <a:r>
              <a:t>数值：daso/results/paper/tables/main_table_final.tex。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304800"/>
            <a:ext cx="1041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DASO  /  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774700"/>
            <a:ext cx="11023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DASO：从压缩方法，到部署决策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409700"/>
            <a:ext cx="110236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Deployment-Aware Strategy Optimization · 面向部署的压缩策略优化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6197600"/>
            <a:ext cx="11023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3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依据：最终论文 Introduction / Framework Overview。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489700"/>
            <a:ext cx="1102360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591300"/>
            <a:ext cx="9906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DASO  ·  技术交流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8800" y="6591300"/>
            <a:ext cx="889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01 /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082800"/>
            <a:ext cx="3048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可选方法越来越多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4200" y="2590800"/>
            <a:ext cx="2946400" cy="3683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2641600"/>
            <a:ext cx="2603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BF16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200" y="3048000"/>
            <a:ext cx="2946400" cy="3683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3098800"/>
            <a:ext cx="2603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Dense NVFP4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3505200"/>
            <a:ext cx="2946400" cy="3683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3556000"/>
            <a:ext cx="2603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Sparse BF16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4200" y="3962400"/>
            <a:ext cx="2946400" cy="3683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4013200"/>
            <a:ext cx="2603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Sparse NVFP4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4200" y="4419600"/>
            <a:ext cx="2946400" cy="3683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4470400"/>
            <a:ext cx="2603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W4A16 Marlin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7000" y="2082800"/>
            <a:ext cx="0" cy="283210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06900" y="2082800"/>
            <a:ext cx="7112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实际部署，需要回答三个问题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6900" y="2641600"/>
            <a:ext cx="3810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1100" y="2616200"/>
            <a:ext cx="6477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在哪些模块用？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1100" y="2946400"/>
            <a:ext cx="6477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不同层与模块，对压缩的敏感度不同。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6900" y="3492500"/>
            <a:ext cx="3810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1100" y="3467100"/>
            <a:ext cx="6477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Prefill 与 Decode 如何搭配？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1100" y="3797300"/>
            <a:ext cx="6477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同一种方法，在不同推理阶段的收益不同。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6900" y="4343400"/>
            <a:ext cx="3810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1100" y="4318000"/>
            <a:ext cx="6477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质量预算下，能快多少？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1100" y="4648200"/>
            <a:ext cx="6477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需要面向具体模型、硬件和负载做决策。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4200" y="5486400"/>
            <a:ext cx="11023600" cy="571500"/>
          </a:xfrm>
          <a:prstGeom prst="roundRect">
            <a:avLst>
              <a:gd name="adj" fmla="val 11111"/>
            </a:avLst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4200" y="5486400"/>
            <a:ext cx="50800" cy="571500"/>
          </a:xfrm>
          <a:prstGeom prst="rect">
            <a:avLst/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800" y="5626100"/>
            <a:ext cx="105537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研究目标：在质量损失预算内，选择更快的细粒度压缩策略。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304800"/>
            <a:ext cx="1041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DASO  /  关键观察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774700"/>
            <a:ext cx="11023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一个方法，难以覆盖所有推理阶段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409700"/>
            <a:ext cx="110236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RTX 5090 · Llama-2-7B-Chat：均匀 NVFP4 与 W4A16 呈现互补收益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6197600"/>
            <a:ext cx="11023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3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数据：最终主表；Prefill 为 TTFT 加速，Decode 为 TPOT 加速；BF16 = 1.0×。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489700"/>
            <a:ext cx="1102360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591300"/>
            <a:ext cx="9906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DASO  ·  技术交流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8800" y="6591300"/>
            <a:ext cx="889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02 /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981200"/>
            <a:ext cx="64135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相对 BF16 的阶段加速（×）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4100" y="2349500"/>
            <a:ext cx="165100" cy="101600"/>
          </a:xfrm>
          <a:prstGeom prst="rect">
            <a:avLst/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0800" y="2260600"/>
            <a:ext cx="2159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Dense NVFP4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8700" y="2349500"/>
            <a:ext cx="165100" cy="101600"/>
          </a:xfrm>
          <a:prstGeom prst="rect">
            <a:avLst/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5400" y="2260600"/>
            <a:ext cx="2159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W4A16 Marlin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4749800"/>
            <a:ext cx="5588000" cy="0"/>
          </a:xfrm>
          <a:prstGeom prst="line">
            <a:avLst/>
          </a:prstGeom>
          <a:ln w="1143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4200" y="4648200"/>
            <a:ext cx="41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0.0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43000" y="4184650"/>
            <a:ext cx="5588000" cy="0"/>
          </a:xfrm>
          <a:prstGeom prst="line">
            <a:avLst/>
          </a:prstGeom>
          <a:ln w="1143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4200" y="4083050"/>
            <a:ext cx="41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0.5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619500"/>
            <a:ext cx="5588000" cy="0"/>
          </a:xfrm>
          <a:prstGeom prst="line">
            <a:avLst/>
          </a:prstGeom>
          <a:ln w="11430">
            <a:solidFill>
              <a:srgbClr val="5F6F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4200" y="3517900"/>
            <a:ext cx="41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1.0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3000" y="3054350"/>
            <a:ext cx="5588000" cy="0"/>
          </a:xfrm>
          <a:prstGeom prst="line">
            <a:avLst/>
          </a:prstGeom>
          <a:ln w="1143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4200" y="2952750"/>
            <a:ext cx="41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1.5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2489200"/>
            <a:ext cx="5588000" cy="0"/>
          </a:xfrm>
          <a:prstGeom prst="line">
            <a:avLst/>
          </a:prstGeom>
          <a:ln w="1143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4200" y="2387600"/>
            <a:ext cx="419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4500" y="3517900"/>
            <a:ext cx="6985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BF16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55800" y="2818927"/>
            <a:ext cx="558800" cy="1930872"/>
          </a:xfrm>
          <a:prstGeom prst="rect">
            <a:avLst/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41500" y="2463327"/>
            <a:ext cx="7874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1.71×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600029"/>
            <a:ext cx="558800" cy="1149770"/>
          </a:xfrm>
          <a:prstGeom prst="rect">
            <a:avLst/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900" y="3244429"/>
            <a:ext cx="7874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1.02×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2600" y="4914900"/>
            <a:ext cx="1778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Prefill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97400" y="4131919"/>
            <a:ext cx="558800" cy="617880"/>
          </a:xfrm>
          <a:prstGeom prst="rect">
            <a:avLst/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3100" y="3776319"/>
            <a:ext cx="7874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0.55×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84800" y="3056445"/>
            <a:ext cx="558800" cy="1693354"/>
          </a:xfrm>
          <a:prstGeom prst="rect">
            <a:avLst/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0500" y="2700845"/>
            <a:ext cx="7874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1.50×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4200" y="4914900"/>
            <a:ext cx="17780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Decode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823200" y="2133600"/>
            <a:ext cx="0" cy="298450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42300" y="2324100"/>
            <a:ext cx="3365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阶段差异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2300" y="2781300"/>
            <a:ext cx="336550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需要分别选择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Prefill 与 Decode 的方法。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2300" y="3835400"/>
            <a:ext cx="3365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模块差异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2300" y="4292600"/>
            <a:ext cx="3365500" cy="73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保留模块之间的敏感度差异，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避免对所有模块统一压缩。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4200" y="5486400"/>
            <a:ext cx="11023600" cy="571500"/>
          </a:xfrm>
          <a:prstGeom prst="roundRect">
            <a:avLst>
              <a:gd name="adj" fmla="val 11111"/>
            </a:avLst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4200" y="5486400"/>
            <a:ext cx="50800" cy="571500"/>
          </a:xfrm>
          <a:prstGeom prst="rect">
            <a:avLst/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2800" y="5626100"/>
            <a:ext cx="105537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启发：让各模块、各推理阶段分别选择合适的方法。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304800"/>
            <a:ext cx="1041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DASO  /  方法（一）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774700"/>
            <a:ext cx="11023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建立可比较的时延与质量代价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409700"/>
            <a:ext cx="110236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面向每个“模块 × 推理阶段 × 候选方法”，估计速度收益与质量损失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6197600"/>
            <a:ext cx="11023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3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依据：最终论文 Latency / Quality Modeling；右下为论文质量建模原图。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489700"/>
            <a:ext cx="1102360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591300"/>
            <a:ext cx="9906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DASO  ·  技术交流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8800" y="6591300"/>
            <a:ext cx="889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03 /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019300"/>
            <a:ext cx="52832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时延建模：硬件与形状感知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616200"/>
            <a:ext cx="5283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方法感知的 Roofline 先验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3035300"/>
            <a:ext cx="52832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按方法区分计算、访存和固定开销，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建立可跨形状比较的时延基线。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746500"/>
            <a:ext cx="5283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用实测数据修正预测偏差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4165600"/>
            <a:ext cx="5283200" cy="596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结合全局趋势与邻近形状，</a:t>
            </a:r>
          </a:p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修正真实内核效率造成的偏差。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4940300"/>
            <a:ext cx="5283200" cy="444500"/>
          </a:xfrm>
          <a:prstGeom prst="roundRect">
            <a:avLst>
              <a:gd name="adj" fmla="val 11428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600" y="5054600"/>
            <a:ext cx="4978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输出：模块 × 阶段 × 方法的时延估计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019300"/>
            <a:ext cx="0" cy="336550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600" y="2019300"/>
            <a:ext cx="52832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质量建模：从局部扰动到 ΔNLL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2616200"/>
            <a:ext cx="5283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局部输出扰动 + 少量策略级 NLL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3035300"/>
            <a:ext cx="5283200" cy="546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按方法、层深、模块类型与阶段校准，</a:t>
            </a:r>
          </a:p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将局部误差映射为整体质量损失。</a:t>
            </a:r>
          </a:p>
        </p:txBody>
      </p:sp>
      <p:pic>
        <p:nvPicPr>
          <p:cNvPr id="21" name="Picture 20" descr="quality_modeling_in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856" y="3530600"/>
            <a:ext cx="5142687" cy="18669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84200" y="5486400"/>
            <a:ext cx="11023600" cy="571500"/>
          </a:xfrm>
          <a:prstGeom prst="roundRect">
            <a:avLst>
              <a:gd name="adj" fmla="val 11111"/>
            </a:avLst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4200" y="5486400"/>
            <a:ext cx="50800" cy="571500"/>
          </a:xfrm>
          <a:prstGeom prst="rect">
            <a:avLst/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800" y="5626100"/>
            <a:ext cx="105537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输出统一的时延—质量代价，支持跨方法的策略比较。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304800"/>
            <a:ext cx="1041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DASO  /  方法（二）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774700"/>
            <a:ext cx="11023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预算约束优化与实际推理执行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409700"/>
            <a:ext cx="110236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将预测代价转化为模块级、阶段级策略，并落实到 vLLM 运行时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6197600"/>
            <a:ext cx="11023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3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依据：最终论文 Strategy Optimization and Deployment；右侧时序为解释性示意。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489700"/>
            <a:ext cx="1102360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591300"/>
            <a:ext cx="9906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DASO  ·  技术交流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8800" y="6591300"/>
            <a:ext cx="889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04 /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019300"/>
            <a:ext cx="52832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策略优化：在质量预算内最小化时延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4200" y="2603500"/>
            <a:ext cx="5283200" cy="508000"/>
          </a:xfrm>
          <a:prstGeom prst="roundRect">
            <a:avLst>
              <a:gd name="adj" fmla="val 10000"/>
            </a:avLst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2730500"/>
            <a:ext cx="49784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9"/>
              </a:lnSpc>
              <a:spcBef>
                <a:spcPts val="0"/>
              </a:spcBef>
              <a:spcAft>
                <a:spcPts val="0"/>
              </a:spcAft>
            </a:pPr>
            <a:r>
              <a:rPr sz="139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每个模块选择一对 Prefill / Decode 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441700"/>
            <a:ext cx="5283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1  按执行次数汇总阶段时延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3886200"/>
            <a:ext cx="5283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2  以 ΔNLL 限制总质量损失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330700"/>
            <a:ext cx="5283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3  动态规划选择各模块的方法对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200" y="4876800"/>
            <a:ext cx="5283200" cy="50800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600" y="5016500"/>
            <a:ext cx="49784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扫描质量预算 → 生成不同折中策略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0" y="2019300"/>
            <a:ext cx="0" cy="336550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24600" y="2019300"/>
            <a:ext cx="52832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运行时：让异构策略真正跑起来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2616200"/>
            <a:ext cx="52832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按模块与推理阶段分派不同计算后端。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600" y="3225800"/>
            <a:ext cx="52832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逐层计算与 Decode 权重准备重叠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600" y="3746500"/>
            <a:ext cx="825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Prefill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600" y="4343400"/>
            <a:ext cx="825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准备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900" y="3695700"/>
            <a:ext cx="749300" cy="355600"/>
          </a:xfrm>
          <a:prstGeom prst="roundRect">
            <a:avLst>
              <a:gd name="adj" fmla="val 10714"/>
            </a:avLst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900" y="3759200"/>
            <a:ext cx="7493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50200" y="4051300"/>
            <a:ext cx="101600" cy="241300"/>
          </a:xfrm>
          <a:prstGeom prst="line">
            <a:avLst/>
          </a:prstGeom>
          <a:ln w="10160">
            <a:solidFill>
              <a:srgbClr val="DCE4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51800" y="4292600"/>
            <a:ext cx="749300" cy="355600"/>
          </a:xfrm>
          <a:prstGeom prst="roundRect">
            <a:avLst>
              <a:gd name="adj" fmla="val 10714"/>
            </a:avLst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1800" y="4356100"/>
            <a:ext cx="7493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1800" y="3695700"/>
            <a:ext cx="749300" cy="355600"/>
          </a:xfrm>
          <a:prstGeom prst="roundRect">
            <a:avLst>
              <a:gd name="adj" fmla="val 10714"/>
            </a:avLst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1800" y="3759200"/>
            <a:ext cx="7493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01100" y="4051300"/>
            <a:ext cx="101600" cy="241300"/>
          </a:xfrm>
          <a:prstGeom prst="line">
            <a:avLst/>
          </a:prstGeom>
          <a:ln w="10160">
            <a:solidFill>
              <a:srgbClr val="DCE4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02700" y="4292600"/>
            <a:ext cx="749300" cy="355600"/>
          </a:xfrm>
          <a:prstGeom prst="roundRect">
            <a:avLst>
              <a:gd name="adj" fmla="val 10714"/>
            </a:avLst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02700" y="4356100"/>
            <a:ext cx="7493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02700" y="3695700"/>
            <a:ext cx="749300" cy="355600"/>
          </a:xfrm>
          <a:prstGeom prst="roundRect">
            <a:avLst>
              <a:gd name="adj" fmla="val 10714"/>
            </a:avLst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02700" y="3759200"/>
            <a:ext cx="7493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52000" y="4051300"/>
            <a:ext cx="101600" cy="241300"/>
          </a:xfrm>
          <a:prstGeom prst="line">
            <a:avLst/>
          </a:prstGeom>
          <a:ln w="10160">
            <a:solidFill>
              <a:srgbClr val="DCE4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753600" y="4292600"/>
            <a:ext cx="749300" cy="355600"/>
          </a:xfrm>
          <a:prstGeom prst="roundRect">
            <a:avLst>
              <a:gd name="adj" fmla="val 10714"/>
            </a:avLst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3600" y="4356100"/>
            <a:ext cx="7493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53600" y="3695700"/>
            <a:ext cx="749300" cy="355600"/>
          </a:xfrm>
          <a:prstGeom prst="roundRect">
            <a:avLst>
              <a:gd name="adj" fmla="val 10714"/>
            </a:avLst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53600" y="3759200"/>
            <a:ext cx="7493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502900" y="4051300"/>
            <a:ext cx="101600" cy="241300"/>
          </a:xfrm>
          <a:prstGeom prst="line">
            <a:avLst/>
          </a:prstGeom>
          <a:ln w="10160">
            <a:solidFill>
              <a:srgbClr val="DCE4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604500" y="4292600"/>
            <a:ext cx="749300" cy="355600"/>
          </a:xfrm>
          <a:prstGeom prst="roundRect">
            <a:avLst>
              <a:gd name="adj" fmla="val 10714"/>
            </a:avLst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04500" y="4356100"/>
            <a:ext cx="7493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502900" y="3873500"/>
            <a:ext cx="774700" cy="0"/>
          </a:xfrm>
          <a:prstGeom prst="line">
            <a:avLst/>
          </a:prstGeom>
          <a:ln w="15240">
            <a:solidFill>
              <a:srgbClr val="285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277600" y="3873500"/>
            <a:ext cx="330200" cy="0"/>
          </a:xfrm>
          <a:prstGeom prst="line">
            <a:avLst/>
          </a:prstGeom>
          <a:ln w="17780">
            <a:solidFill>
              <a:srgbClr val="285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531600" y="3822700"/>
            <a:ext cx="76200" cy="50800"/>
          </a:xfrm>
          <a:prstGeom prst="line">
            <a:avLst/>
          </a:prstGeom>
          <a:ln w="17780">
            <a:solidFill>
              <a:srgbClr val="285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531600" y="3873500"/>
            <a:ext cx="76200" cy="50800"/>
          </a:xfrm>
          <a:prstGeom prst="line">
            <a:avLst/>
          </a:prstGeom>
          <a:ln w="17780">
            <a:solidFill>
              <a:srgbClr val="285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366500" y="4470400"/>
            <a:ext cx="241300" cy="0"/>
          </a:xfrm>
          <a:prstGeom prst="line">
            <a:avLst/>
          </a:prstGeom>
          <a:ln w="17780">
            <a:solidFill>
              <a:srgbClr val="11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531600" y="4419600"/>
            <a:ext cx="76200" cy="50800"/>
          </a:xfrm>
          <a:prstGeom prst="line">
            <a:avLst/>
          </a:prstGeom>
          <a:ln w="17780">
            <a:solidFill>
              <a:srgbClr val="11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531600" y="4470400"/>
            <a:ext cx="76200" cy="50800"/>
          </a:xfrm>
          <a:prstGeom prst="line">
            <a:avLst/>
          </a:prstGeom>
          <a:ln w="17780">
            <a:solidFill>
              <a:srgbClr val="11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324600" y="4762500"/>
            <a:ext cx="5283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8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时序示意；方块不表示实际持续时间。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4600" y="5130800"/>
            <a:ext cx="52832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48"/>
              </a:lnSpc>
              <a:spcBef>
                <a:spcPts val="0"/>
              </a:spcBef>
              <a:spcAft>
                <a:spcPts val="0"/>
              </a:spcAft>
            </a:pPr>
            <a:r>
              <a:rPr sz="134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通过异步预取，减少阶段切换的全局等待。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4200" y="5486400"/>
            <a:ext cx="11023600" cy="571500"/>
          </a:xfrm>
          <a:prstGeom prst="roundRect">
            <a:avLst>
              <a:gd name="adj" fmla="val 11111"/>
            </a:avLst>
          </a:prstGeom>
          <a:solidFill>
            <a:srgbClr val="E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4200" y="5486400"/>
            <a:ext cx="50800" cy="571500"/>
          </a:xfrm>
          <a:prstGeom prst="rect">
            <a:avLst/>
          </a:prstGeom>
          <a:solidFill>
            <a:srgbClr val="118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2800" y="5626100"/>
            <a:ext cx="105537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质量预算决定策略，运行时将策略转化为实际推理加速。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85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4200" y="304800"/>
            <a:ext cx="1041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DASO  /  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774700"/>
            <a:ext cx="110236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实验结果：速度收益与质量折中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409700"/>
            <a:ext cx="1102360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原图：Llama-3.1-8B-Instruct · RTX 5090；右侧摘要来自最终主表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6197600"/>
            <a:ext cx="110236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33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左：论文质量—速度原图；右：最终主表（两模型，RTX 5090）。B=8，S=2048，生成长度 T=64。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4200" y="6489700"/>
            <a:ext cx="1102360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4200" y="6591300"/>
            <a:ext cx="9906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DASO  ·  技术交流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8800" y="6591300"/>
            <a:ext cx="889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0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05 / 05</a:t>
            </a:r>
          </a:p>
        </p:txBody>
      </p:sp>
      <p:pic>
        <p:nvPicPr>
          <p:cNvPr id="10" name="Picture 9" descr="llama31_two_scenario_tradeoff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76" y="1905000"/>
            <a:ext cx="6786446" cy="415290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7772400" y="2006600"/>
            <a:ext cx="0" cy="401320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02600" y="2044700"/>
            <a:ext cx="35052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72B45"/>
                </a:solidFill>
                <a:latin typeface="Noto Sans SC"/>
                <a:ea typeface="Noto Sans SC"/>
                <a:cs typeface="Noto Sans SC"/>
              </a:rPr>
              <a:t>论文中的主要结果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2600" y="2628900"/>
            <a:ext cx="3505200" cy="546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3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2.26×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2600" y="3213100"/>
            <a:ext cx="35052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最大 Prefill 加速 · Llama-3.1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2600" y="3759200"/>
            <a:ext cx="3505200" cy="546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36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85BA7"/>
                </a:solidFill>
                <a:latin typeface="Noto Sans SC"/>
                <a:ea typeface="Noto Sans SC"/>
                <a:cs typeface="Noto Sans SC"/>
              </a:rPr>
              <a:t>1.55×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2600" y="4343400"/>
            <a:ext cx="3505200" cy="292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最大 E2E 加速 · Llama-2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02600" y="4762500"/>
            <a:ext cx="3505200" cy="0"/>
          </a:xfrm>
          <a:prstGeom prst="line">
            <a:avLst/>
          </a:prstGeom>
          <a:ln w="12700">
            <a:solidFill>
              <a:srgbClr val="DC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02600" y="4940300"/>
            <a:ext cx="3505200" cy="43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5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877E"/>
                </a:solidFill>
                <a:latin typeface="Noto Sans SC"/>
                <a:ea typeface="Noto Sans SC"/>
                <a:cs typeface="Noto Sans SC"/>
              </a:rPr>
              <a:t>1.14–1.26×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2600" y="5422900"/>
            <a:ext cx="3505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Balanced 的 E2E 加速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2600" y="5753100"/>
            <a:ext cx="35052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最大加速使用宽松质量预算；</a:t>
            </a:r>
          </a:p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F6F82"/>
                </a:solidFill>
                <a:latin typeface="Noto Sans SC"/>
                <a:ea typeface="Noto Sans SC"/>
                <a:cs typeface="Noto Sans SC"/>
              </a:rPr>
              <a:t>Balanced 体现较保守的质量折中。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DASO：从压缩方法到部署决策</dc:title>
  <dc:subject>技术交流：DASO 方法与实验结果</dc:subject>
  <dc:creator>DASO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